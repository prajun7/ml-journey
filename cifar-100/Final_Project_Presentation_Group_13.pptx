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72" r:id="rId8"/>
    <p:sldId id="267" r:id="rId9"/>
    <p:sldId id="268" r:id="rId10"/>
    <p:sldId id="269" r:id="rId11"/>
    <p:sldId id="270" r:id="rId12"/>
    <p:sldId id="273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5"/>
  </p:normalViewPr>
  <p:slideViewPr>
    <p:cSldViewPr snapToGrid="0" showGuides="1">
      <p:cViewPr varScale="1">
        <p:scale>
          <a:sx n="105" d="100"/>
          <a:sy n="105" d="100"/>
        </p:scale>
        <p:origin x="1080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11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116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3DB64E7-5594-42A3-ADBF-E95A7ACEAD64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7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1008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6975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2037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050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8344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5/1/25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5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1172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63284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33934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microsoft.com/office/2007/relationships/hdphoto" Target="../media/hdphoto1.wdp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E31BA835-12AC-4E8F-955A-EA3F4DE2791F}" type="datetime1">
              <a:rPr lang="en-US" smtClean="0"/>
              <a:t>5/1/25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992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185D17-9327-6542-F22D-F35812B79A1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t="10776" b="14224"/>
          <a:stretch/>
        </p:blipFill>
        <p:spPr>
          <a:xfrm>
            <a:off x="-30" y="907215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C64D7F-19BE-85BB-9B35-895AC18B0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6" y="2356104"/>
            <a:ext cx="12191976" cy="1072896"/>
          </a:xfrm>
        </p:spPr>
        <p:txBody>
          <a:bodyPr>
            <a:noAutofit/>
          </a:bodyPr>
          <a:lstStyle/>
          <a:p>
            <a:pPr algn="ctr"/>
            <a:r>
              <a:rPr lang="en-US" sz="7200" dirty="0"/>
              <a:t>CIFAR - 100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5BFF7F7-26AF-128C-CD3D-06A9502B96DB}"/>
              </a:ext>
            </a:extLst>
          </p:cNvPr>
          <p:cNvSpPr txBox="1">
            <a:spLocks/>
          </p:cNvSpPr>
          <p:nvPr/>
        </p:nvSpPr>
        <p:spPr>
          <a:xfrm>
            <a:off x="-26" y="3017520"/>
            <a:ext cx="12192026" cy="11765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2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endParaRPr lang="en-US" sz="240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12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238D97-254E-5B6F-D844-4F779B888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loseup of a keyboard">
            <a:extLst>
              <a:ext uri="{FF2B5EF4-FFF2-40B4-BE49-F238E27FC236}">
                <a16:creationId xmlns:a16="http://schemas.microsoft.com/office/drawing/2014/main" id="{415D0E4D-8522-496C-F0C3-D4F49A250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974" r="41026" b="1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C9F352-8690-0B08-48E2-E8C061C5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6074" y="197144"/>
            <a:ext cx="8085906" cy="786213"/>
          </a:xfrm>
        </p:spPr>
        <p:txBody>
          <a:bodyPr>
            <a:normAutofit fontScale="90000"/>
          </a:bodyPr>
          <a:lstStyle/>
          <a:p>
            <a:r>
              <a:rPr lang="en-US" dirty="0"/>
              <a:t>CIFAR-100 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2CE6D-1310-A468-9AC8-6595BB8D195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84729" y="1081956"/>
            <a:ext cx="7129545" cy="539199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Total Images: 60,000 RGB Images</a:t>
            </a:r>
          </a:p>
          <a:p>
            <a:pPr lvl="1">
              <a:lnSpc>
                <a:spcPct val="110000"/>
              </a:lnSpc>
            </a:pPr>
            <a:r>
              <a:rPr lang="en-US" sz="2000" cap="none" dirty="0">
                <a:cs typeface="Calibri" panose="020F0502020204030204" pitchFamily="34" charset="0"/>
              </a:rPr>
              <a:t>50,000 Training Images</a:t>
            </a:r>
          </a:p>
          <a:p>
            <a:pPr lvl="1">
              <a:lnSpc>
                <a:spcPct val="110000"/>
              </a:lnSpc>
            </a:pPr>
            <a:r>
              <a:rPr lang="en-US" sz="2000" cap="none" dirty="0">
                <a:cs typeface="Calibri" panose="020F0502020204030204" pitchFamily="34" charset="0"/>
              </a:rPr>
              <a:t>10,000 Test Images</a:t>
            </a:r>
          </a:p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Each Image Is 32x32 Pixels, 3 Channels (RGB)</a:t>
            </a:r>
          </a:p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Each Pixel’s RGB Value Ranges From 0 To 255 </a:t>
            </a:r>
          </a:p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The Images Are Stored As Uint8 Type</a:t>
            </a:r>
          </a:p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Labels:</a:t>
            </a:r>
          </a:p>
          <a:p>
            <a:pPr lvl="1">
              <a:lnSpc>
                <a:spcPct val="110000"/>
              </a:lnSpc>
            </a:pPr>
            <a:r>
              <a:rPr lang="en-US" sz="2000" cap="none" dirty="0">
                <a:cs typeface="Calibri" panose="020F0502020204030204" pitchFamily="34" charset="0"/>
              </a:rPr>
              <a:t>100 Fine-grained Classes (E.G., Apple, Keyboard, Lion)</a:t>
            </a:r>
          </a:p>
          <a:p>
            <a:pPr lvl="1">
              <a:lnSpc>
                <a:spcPct val="110000"/>
              </a:lnSpc>
            </a:pPr>
            <a:r>
              <a:rPr lang="en-US" sz="2000" cap="none" dirty="0">
                <a:cs typeface="Calibri" panose="020F0502020204030204" pitchFamily="34" charset="0"/>
              </a:rPr>
              <a:t>20 Coarse-grained </a:t>
            </a:r>
            <a:r>
              <a:rPr lang="en-US" sz="2000" cap="none" dirty="0" err="1">
                <a:cs typeface="Calibri" panose="020F0502020204030204" pitchFamily="34" charset="0"/>
              </a:rPr>
              <a:t>Superclasses</a:t>
            </a:r>
            <a:r>
              <a:rPr lang="en-US" sz="2000" cap="none" dirty="0">
                <a:cs typeface="Calibri" panose="020F0502020204030204" pitchFamily="34" charset="0"/>
              </a:rPr>
              <a:t> (E.G., Fruit And Vegetables, Electronic Devices)</a:t>
            </a:r>
          </a:p>
          <a:p>
            <a:pPr>
              <a:lnSpc>
                <a:spcPct val="110000"/>
              </a:lnSpc>
            </a:pPr>
            <a:r>
              <a:rPr lang="en-US" b="1" cap="none" dirty="0">
                <a:cs typeface="Calibri" panose="020F0502020204030204" pitchFamily="34" charset="0"/>
              </a:rPr>
              <a:t>✅We Are Only Using The Fine Labels For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880882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B6B0D4-41DC-1838-FA34-EFBA844F4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Floating green apple on green background">
            <a:extLst>
              <a:ext uri="{FF2B5EF4-FFF2-40B4-BE49-F238E27FC236}">
                <a16:creationId xmlns:a16="http://schemas.microsoft.com/office/drawing/2014/main" id="{62D48F4C-BF34-1D01-F318-B5F44656D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90" r="31104" b="1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B4E5DE-0AA5-A1EA-A80F-CBE9BA329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49" y="184063"/>
            <a:ext cx="6672886" cy="893291"/>
          </a:xfrm>
        </p:spPr>
        <p:txBody>
          <a:bodyPr>
            <a:normAutofit/>
          </a:bodyPr>
          <a:lstStyle/>
          <a:p>
            <a:r>
              <a:rPr lang="en-US"/>
              <a:t>Label Types in CIFAR-100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8EDA-1F41-C34C-0DE2-2C8F05DF5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65049" y="1524000"/>
            <a:ext cx="6999463" cy="513283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1" cap="none" dirty="0">
                <a:cs typeface="Calibri" panose="020F0502020204030204" pitchFamily="34" charset="0"/>
              </a:rPr>
              <a:t>Fine Labels</a:t>
            </a:r>
            <a:r>
              <a:rPr lang="en-US" cap="none" dirty="0">
                <a:cs typeface="Calibri" panose="020F0502020204030204" pitchFamily="34" charset="0"/>
              </a:rPr>
              <a:t>: Specific Category (E.G., </a:t>
            </a:r>
            <a:r>
              <a:rPr lang="en-US" i="1" cap="none" dirty="0">
                <a:cs typeface="Calibri" panose="020F0502020204030204" pitchFamily="34" charset="0"/>
              </a:rPr>
              <a:t>Leopard</a:t>
            </a:r>
            <a:r>
              <a:rPr lang="en-US" cap="none" dirty="0">
                <a:cs typeface="Calibri" panose="020F0502020204030204" pitchFamily="34" charset="0"/>
              </a:rPr>
              <a:t>, </a:t>
            </a:r>
            <a:r>
              <a:rPr lang="en-US" i="1" cap="none" dirty="0">
                <a:cs typeface="Calibri" panose="020F0502020204030204" pitchFamily="34" charset="0"/>
              </a:rPr>
              <a:t>Apple</a:t>
            </a:r>
            <a:r>
              <a:rPr lang="en-US" cap="none" dirty="0">
                <a:cs typeface="Calibri" panose="020F0502020204030204" pitchFamily="34" charset="0"/>
              </a:rPr>
              <a:t>, </a:t>
            </a:r>
            <a:r>
              <a:rPr lang="en-US" i="1" cap="none" dirty="0">
                <a:cs typeface="Calibri" panose="020F0502020204030204" pitchFamily="34" charset="0"/>
              </a:rPr>
              <a:t>Keyboard</a:t>
            </a:r>
            <a:r>
              <a:rPr lang="en-US" cap="none" dirty="0"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b="1" cap="none" dirty="0">
                <a:cs typeface="Calibri" panose="020F0502020204030204" pitchFamily="34" charset="0"/>
              </a:rPr>
              <a:t>Coarse Labels</a:t>
            </a:r>
            <a:r>
              <a:rPr lang="en-US" cap="none" dirty="0">
                <a:cs typeface="Calibri" panose="020F0502020204030204" pitchFamily="34" charset="0"/>
              </a:rPr>
              <a:t>: General Category (E.G., </a:t>
            </a:r>
            <a:r>
              <a:rPr lang="en-US" i="1" cap="none" dirty="0">
                <a:cs typeface="Calibri" panose="020F0502020204030204" pitchFamily="34" charset="0"/>
              </a:rPr>
              <a:t>Mammals</a:t>
            </a:r>
            <a:r>
              <a:rPr lang="en-US" cap="none" dirty="0">
                <a:cs typeface="Calibri" panose="020F0502020204030204" pitchFamily="34" charset="0"/>
              </a:rPr>
              <a:t>, </a:t>
            </a:r>
            <a:r>
              <a:rPr lang="en-US" i="1" cap="none" dirty="0">
                <a:cs typeface="Calibri" panose="020F0502020204030204" pitchFamily="34" charset="0"/>
              </a:rPr>
              <a:t>Fruit And Vegetables</a:t>
            </a:r>
            <a:r>
              <a:rPr lang="en-US" cap="none" dirty="0">
                <a:cs typeface="Calibri" panose="020F0502020204030204" pitchFamily="34" charset="0"/>
              </a:rPr>
              <a:t>, </a:t>
            </a:r>
            <a:r>
              <a:rPr lang="en-US" i="1" cap="none" dirty="0">
                <a:cs typeface="Calibri" panose="020F0502020204030204" pitchFamily="34" charset="0"/>
              </a:rPr>
              <a:t>Electronic Devices</a:t>
            </a:r>
            <a:r>
              <a:rPr lang="en-US" cap="none" dirty="0">
                <a:cs typeface="Calibri" panose="020F0502020204030204" pitchFamily="34" charset="0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cap="none" dirty="0">
                <a:cs typeface="Calibri" panose="020F0502020204030204" pitchFamily="34" charset="0"/>
              </a:rPr>
              <a:t>Example:</a:t>
            </a:r>
          </a:p>
          <a:p>
            <a:pPr lvl="1">
              <a:lnSpc>
                <a:spcPct val="110000"/>
              </a:lnSpc>
            </a:pPr>
            <a:r>
              <a:rPr lang="en-US" sz="2000" i="1" cap="none" dirty="0">
                <a:cs typeface="Calibri" panose="020F0502020204030204" pitchFamily="34" charset="0"/>
              </a:rPr>
              <a:t>Fine Label:</a:t>
            </a:r>
            <a:r>
              <a:rPr lang="en-US" sz="2000" cap="none" dirty="0">
                <a:cs typeface="Calibri" panose="020F0502020204030204" pitchFamily="34" charset="0"/>
              </a:rPr>
              <a:t> </a:t>
            </a:r>
            <a:r>
              <a:rPr lang="en-US" sz="2000" b="1" cap="none" dirty="0">
                <a:cs typeface="Calibri" panose="020F0502020204030204" pitchFamily="34" charset="0"/>
              </a:rPr>
              <a:t>Apple</a:t>
            </a:r>
          </a:p>
          <a:p>
            <a:pPr lvl="1">
              <a:lnSpc>
                <a:spcPct val="110000"/>
              </a:lnSpc>
            </a:pPr>
            <a:r>
              <a:rPr lang="en-US" sz="2000" b="1" cap="none" dirty="0">
                <a:cs typeface="Calibri" panose="020F0502020204030204" pitchFamily="34" charset="0"/>
              </a:rPr>
              <a:t>20 Coarse-grained </a:t>
            </a:r>
            <a:r>
              <a:rPr lang="en-US" sz="2000" b="1" cap="none" dirty="0" err="1">
                <a:cs typeface="Calibri" panose="020F0502020204030204" pitchFamily="34" charset="0"/>
              </a:rPr>
              <a:t>Superclasses</a:t>
            </a:r>
            <a:r>
              <a:rPr lang="en-US" sz="2000" cap="none" dirty="0">
                <a:cs typeface="Calibri" panose="020F0502020204030204" pitchFamily="34" charset="0"/>
              </a:rPr>
              <a:t> (E.G., Fruit And Vegetables, Electronic Devices)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sz="2000" cap="none" dirty="0">
              <a:cs typeface="Calibri" panose="020F0502020204030204" pitchFamily="34" charset="0"/>
            </a:endParaRPr>
          </a:p>
          <a:p>
            <a:pPr>
              <a:lnSpc>
                <a:spcPct val="110000"/>
              </a:lnSpc>
            </a:pPr>
            <a:r>
              <a:rPr lang="en-US" b="1" cap="none" dirty="0">
                <a:cs typeface="Calibri" panose="020F0502020204030204" pitchFamily="34" charset="0"/>
              </a:rPr>
              <a:t>🔍 This Project Focuses Only On The 100 Fine-grained Labels.</a:t>
            </a:r>
          </a:p>
        </p:txBody>
      </p:sp>
    </p:spTree>
    <p:extLst>
      <p:ext uri="{BB962C8B-B14F-4D97-AF65-F5344CB8AC3E}">
        <p14:creationId xmlns:p14="http://schemas.microsoft.com/office/powerpoint/2010/main" val="1038767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451553-9F6D-3637-BE73-8B9A3332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104CC8-DA07-93CE-4228-B32DFB71B0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092" r="40897"/>
          <a:stretch/>
        </p:blipFill>
        <p:spPr>
          <a:xfrm>
            <a:off x="20" y="10"/>
            <a:ext cx="402474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923F1D5-5051-1DF8-CF34-E1CD4EC4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050" y="618517"/>
            <a:ext cx="6672886" cy="1596177"/>
          </a:xfrm>
        </p:spPr>
        <p:txBody>
          <a:bodyPr>
            <a:normAutofit/>
          </a:bodyPr>
          <a:lstStyle/>
          <a:p>
            <a:r>
              <a:rPr lang="en-US"/>
              <a:t>Loading the Data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3AB51-CEB2-718D-D9B4-A9EF0F68DF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65048" y="2367092"/>
            <a:ext cx="6672887" cy="3424107"/>
          </a:xfrm>
        </p:spPr>
        <p:txBody>
          <a:bodyPr>
            <a:normAutofit/>
          </a:bodyPr>
          <a:lstStyle/>
          <a:p>
            <a:r>
              <a:rPr lang="en-US" dirty="0"/>
              <a:t>Loaded directly using tf.keras.datasets.cifar100</a:t>
            </a:r>
          </a:p>
          <a:p>
            <a:r>
              <a:rPr lang="en-US" dirty="0"/>
              <a:t>Splits into:</a:t>
            </a:r>
          </a:p>
          <a:p>
            <a:pPr lvl="1"/>
            <a:r>
              <a:rPr lang="en-US" sz="2000" i="1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X_train</a:t>
            </a:r>
            <a:r>
              <a:rPr lang="en-US" sz="2000" i="1" cap="none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i="1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Y_train</a:t>
            </a:r>
            <a:endParaRPr lang="en-US" sz="2000" b="1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000" b="1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X_test</a:t>
            </a:r>
            <a:r>
              <a:rPr lang="en-US" sz="2000" b="1" cap="none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b="1" cap="none" dirty="0" err="1">
                <a:latin typeface="Calibri" panose="020F0502020204030204" pitchFamily="34" charset="0"/>
                <a:cs typeface="Calibri" panose="020F0502020204030204" pitchFamily="34" charset="0"/>
              </a:rPr>
              <a:t>Y_test</a:t>
            </a:r>
            <a:endParaRPr lang="en-US" sz="2000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/>
              <a:t>Labels are integers from 0 to 99</a:t>
            </a:r>
            <a:endParaRPr lang="en-US" b="1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934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CF14BB-046C-68B7-D49A-9391EC1B3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572871-4015-9E86-CF5E-1D25D26D2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798" y="2862407"/>
            <a:ext cx="4770219" cy="131181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1951FF-F8BC-785D-C511-C57146608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01775"/>
            <a:ext cx="10364451" cy="681771"/>
          </a:xfrm>
        </p:spPr>
        <p:txBody>
          <a:bodyPr>
            <a:normAutofit fontScale="90000"/>
          </a:bodyPr>
          <a:lstStyle/>
          <a:p>
            <a:r>
              <a:rPr lang="en-US" dirty="0"/>
              <a:t>Normalization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30BE7-EFC4-35EE-051F-6FB11FA66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7408" y="1716946"/>
            <a:ext cx="6071616" cy="4607653"/>
          </a:xfrm>
        </p:spPr>
        <p:txBody>
          <a:bodyPr>
            <a:normAutofit/>
          </a:bodyPr>
          <a:lstStyle/>
          <a:p>
            <a:r>
              <a:rPr lang="en-US" cap="none" dirty="0">
                <a:cs typeface="Calibri" panose="020F0502020204030204" pitchFamily="34" charset="0"/>
              </a:rPr>
              <a:t>Images Are Stored As Uint8, Meaning Pixel Values Range From </a:t>
            </a:r>
            <a:r>
              <a:rPr lang="en-US" b="1" cap="none" dirty="0">
                <a:cs typeface="Calibri" panose="020F0502020204030204" pitchFamily="34" charset="0"/>
              </a:rPr>
              <a:t>0 To 255</a:t>
            </a:r>
            <a:r>
              <a:rPr lang="en-US" cap="none" dirty="0">
                <a:cs typeface="Calibri" panose="020F0502020204030204" pitchFamily="34" charset="0"/>
              </a:rPr>
              <a:t>.</a:t>
            </a:r>
          </a:p>
          <a:p>
            <a:r>
              <a:rPr lang="en-US" cap="none" dirty="0">
                <a:cs typeface="Calibri" panose="020F0502020204030204" pitchFamily="34" charset="0"/>
              </a:rPr>
              <a:t>Dividing By 255 Rescales Pixel Values Into The Range </a:t>
            </a:r>
            <a:r>
              <a:rPr lang="en-US" b="1" cap="none" dirty="0">
                <a:cs typeface="Calibri" panose="020F0502020204030204" pitchFamily="34" charset="0"/>
              </a:rPr>
              <a:t>[0.0, 1.0]</a:t>
            </a:r>
            <a:r>
              <a:rPr lang="en-US" cap="none" dirty="0">
                <a:cs typeface="Calibri" panose="020F0502020204030204" pitchFamily="34" charset="0"/>
              </a:rPr>
              <a:t>.</a:t>
            </a:r>
          </a:p>
          <a:p>
            <a:r>
              <a:rPr lang="en-US" cap="none" dirty="0">
                <a:cs typeface="Calibri" panose="020F0502020204030204" pitchFamily="34" charset="0"/>
              </a:rPr>
              <a:t>Labels Remain Unchanged (Integers)</a:t>
            </a:r>
          </a:p>
          <a:p>
            <a:r>
              <a:rPr lang="en-US" cap="none" dirty="0">
                <a:cs typeface="Calibri" panose="020F0502020204030204" pitchFamily="34" charset="0"/>
              </a:rPr>
              <a:t>Normalization Ensures All Features (Pixels) Are On A Similar Scale, Helping Models Converge Faster And More Stably.</a:t>
            </a:r>
            <a:endParaRPr lang="en-US" b="1" cap="none" dirty="0"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630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F9298-7EFE-B6F7-3DC1-9B469E97B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BDF739-2A16-FFC4-0D1E-B39293108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7734" y="2630191"/>
            <a:ext cx="4770219" cy="2897906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3FB1A98-303C-018F-5997-33DD7871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85458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DFF46-D784-1C36-981B-B5B655154B7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774" y="2367093"/>
            <a:ext cx="4860493" cy="2204908"/>
          </a:xfrm>
        </p:spPr>
        <p:txBody>
          <a:bodyPr>
            <a:normAutofit/>
          </a:bodyPr>
          <a:lstStyle/>
          <a:p>
            <a:r>
              <a:rPr lang="en-US" dirty="0"/>
              <a:t>Applied only to training data to increase diversity</a:t>
            </a:r>
          </a:p>
          <a:p>
            <a:r>
              <a:rPr lang="en-US" dirty="0"/>
              <a:t>Helps model generalize better</a:t>
            </a:r>
          </a:p>
          <a:p>
            <a:r>
              <a:rPr lang="en-US" dirty="0"/>
              <a:t>Reduces overfitting</a:t>
            </a:r>
          </a:p>
          <a:p>
            <a:pPr marL="0" indent="0">
              <a:buNone/>
            </a:pPr>
            <a:endParaRPr lang="en-US" b="1" cap="none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39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C69FE-C6AC-EFCD-63AD-662943C9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5B3CB76-A229-B541-A1A0-6860422C1A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311" y="12192"/>
            <a:ext cx="6375689" cy="685800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4951A8B7-4A78-7F3E-5B58-566C328B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540" y="90130"/>
            <a:ext cx="4523232" cy="1389888"/>
          </a:xfrm>
        </p:spPr>
        <p:txBody>
          <a:bodyPr>
            <a:normAutofit fontScale="90000"/>
          </a:bodyPr>
          <a:lstStyle/>
          <a:p>
            <a:r>
              <a:rPr lang="en-US" dirty="0"/>
              <a:t>Model Structure </a:t>
            </a:r>
            <a:br>
              <a:rPr lang="en-US" dirty="0"/>
            </a:br>
            <a:r>
              <a:rPr lang="en-US" dirty="0"/>
              <a:t>Breakdown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688BBBD-DB2B-2A89-C81F-DBF0F42EEE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16188" y="1562318"/>
            <a:ext cx="5583936" cy="520555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model uses </a:t>
            </a:r>
            <a:r>
              <a:rPr lang="en-US" b="1" dirty="0" err="1"/>
              <a:t>tf.keras.Sequential</a:t>
            </a:r>
            <a:r>
              <a:rPr lang="en-US" dirty="0"/>
              <a:t> to stack layers one after the other.</a:t>
            </a:r>
          </a:p>
          <a:p>
            <a:r>
              <a:rPr lang="en-US" sz="1800" b="1" dirty="0"/>
              <a:t>✅ Regularization Techniques Used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l2(L2_LAMBDA) in all Conv &amp; Dense layers → discourages large weights.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Dropout in every block → reduces overfitting.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Batch Normalization → stabilizes training, allows higher learning rate.</a:t>
            </a:r>
          </a:p>
          <a:p>
            <a:r>
              <a:rPr lang="en-US" sz="1800" b="1" dirty="0"/>
              <a:t>🧠 Optimizer and Loss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Adam optimizer with </a:t>
            </a:r>
            <a:r>
              <a:rPr lang="en-US" dirty="0" err="1"/>
              <a:t>learning_rate</a:t>
            </a:r>
            <a:r>
              <a:rPr lang="en-US" dirty="0"/>
              <a:t> = 0.001.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SparseCategoricalCrossentropy</a:t>
            </a:r>
            <a:r>
              <a:rPr lang="en-US" dirty="0"/>
              <a:t> → used for integer-labeled classification.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Metrics: Accuracy.</a:t>
            </a:r>
          </a:p>
          <a:p>
            <a:r>
              <a:rPr lang="en-US" sz="1800" b="1" dirty="0"/>
              <a:t>📉 Callbacks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EarlyStopping: Stops training if </a:t>
            </a:r>
            <a:r>
              <a:rPr lang="en-US" dirty="0" err="1"/>
              <a:t>val_loss</a:t>
            </a:r>
            <a:r>
              <a:rPr lang="en-US" dirty="0"/>
              <a:t> doesn’t improve after 10 epochs.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ReduceLROnPlateau</a:t>
            </a:r>
            <a:r>
              <a:rPr lang="en-US" dirty="0"/>
              <a:t>: Reduces learning rate if </a:t>
            </a:r>
            <a:r>
              <a:rPr lang="en-US" dirty="0" err="1"/>
              <a:t>val_loss</a:t>
            </a:r>
            <a:r>
              <a:rPr lang="en-US" dirty="0"/>
              <a:t> plateaus.</a:t>
            </a:r>
          </a:p>
        </p:txBody>
      </p:sp>
    </p:spTree>
    <p:extLst>
      <p:ext uri="{BB962C8B-B14F-4D97-AF65-F5344CB8AC3E}">
        <p14:creationId xmlns:p14="http://schemas.microsoft.com/office/powerpoint/2010/main" val="1900266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1B366-EC8C-6A2B-4810-5CA2B8216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492FE-5041-E21A-B2A7-F97EF60E5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62756"/>
          </a:xfrm>
        </p:spPr>
        <p:txBody>
          <a:bodyPr>
            <a:normAutofit/>
          </a:bodyPr>
          <a:lstStyle/>
          <a:p>
            <a:pPr algn="ctr"/>
            <a:r>
              <a:rPr lang="en-US" sz="4800" dirty="0"/>
              <a:t>RESULTS - CNN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291DD5-579E-E625-70D5-9607E935D6E2}"/>
              </a:ext>
            </a:extLst>
          </p:cNvPr>
          <p:cNvSpPr txBox="1"/>
          <p:nvPr/>
        </p:nvSpPr>
        <p:spPr>
          <a:xfrm>
            <a:off x="1656522" y="5261113"/>
            <a:ext cx="8852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got an accuracy of 61.28 % by using the CNN.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9D2CE78-F180-FCB0-7F52-EE8395F1E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273" y="1340315"/>
            <a:ext cx="4549123" cy="3650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FC7DD42-4920-4C5F-2B72-CE3F505D6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8604" y="1288231"/>
            <a:ext cx="4729558" cy="3795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2205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876C-B1C9-FF22-51A9-E81171D35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53780-5ACB-0F64-3602-1BB2956EB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14770"/>
            <a:ext cx="10364451" cy="970563"/>
          </a:xfrm>
        </p:spPr>
        <p:txBody>
          <a:bodyPr>
            <a:normAutofit/>
          </a:bodyPr>
          <a:lstStyle/>
          <a:p>
            <a:r>
              <a:rPr lang="en-US" dirty="0"/>
              <a:t>Efficient Net B0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DB5A60-4C51-0F74-71F4-781031951414}"/>
              </a:ext>
            </a:extLst>
          </p:cNvPr>
          <p:cNvSpPr txBox="1"/>
          <p:nvPr/>
        </p:nvSpPr>
        <p:spPr>
          <a:xfrm>
            <a:off x="361244" y="1614311"/>
            <a:ext cx="105551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What is EfficientNetB0?</a:t>
            </a:r>
            <a:endParaRPr lang="en-US" dirty="0"/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Part of the </a:t>
            </a:r>
            <a:r>
              <a:rPr lang="en-US" dirty="0" err="1"/>
              <a:t>EfficientNet</a:t>
            </a:r>
            <a:r>
              <a:rPr lang="en-US" dirty="0"/>
              <a:t> family, developed by Google Research (2019).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Designed via Neural Architecture Search (NAS) to optimize CNN architecture.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B0 is the baseline model, scaled up to B1–B7 for larger tasks.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b="1" dirty="0"/>
              <a:t>Core Innovation</a:t>
            </a:r>
            <a:r>
              <a:rPr lang="en-US" dirty="0"/>
              <a:t>: Compound Scaling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Balances network </a:t>
            </a:r>
            <a:r>
              <a:rPr lang="en-US" b="1" dirty="0"/>
              <a:t>depth</a:t>
            </a:r>
            <a:r>
              <a:rPr lang="en-US" dirty="0"/>
              <a:t>, </a:t>
            </a:r>
            <a:r>
              <a:rPr lang="en-US" b="1" dirty="0"/>
              <a:t>width</a:t>
            </a:r>
            <a:r>
              <a:rPr lang="en-US" dirty="0"/>
              <a:t>, and </a:t>
            </a:r>
            <a:r>
              <a:rPr lang="en-US" b="1" dirty="0"/>
              <a:t>resolution</a:t>
            </a:r>
            <a:r>
              <a:rPr lang="en-US" dirty="0"/>
              <a:t> using a single scaling factor.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en-US" dirty="0"/>
              <a:t>Achieves better accuracy vs. compute trade-off compared to traditional scaling methods.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63D7C4-A58F-F6AA-3C91-A8F48AF1C845}"/>
              </a:ext>
            </a:extLst>
          </p:cNvPr>
          <p:cNvSpPr txBox="1"/>
          <p:nvPr/>
        </p:nvSpPr>
        <p:spPr>
          <a:xfrm>
            <a:off x="361245" y="4190111"/>
            <a:ext cx="1055511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Why EfficientNetB0?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Pretrained features generalize well to CIFAR-100’s fine-grained classes.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Efficient architecture reduces training time on resource-constrained setups.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06442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26E38-7D3E-17CE-2162-1B6D28A4F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9E0BD-439C-2941-A71C-B4734D7C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304" y="214771"/>
            <a:ext cx="11488163" cy="65447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Model </a:t>
            </a:r>
            <a:r>
              <a:rPr lang="en-US" sz="5300" dirty="0"/>
              <a:t>Structure</a:t>
            </a:r>
            <a:r>
              <a:rPr lang="en-US" dirty="0"/>
              <a:t> Breakdown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CB04FD-49C4-1691-61C7-B083300D1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1022" y="2068793"/>
            <a:ext cx="4844251" cy="26836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8B5DF0D-967D-46D2-32A7-DE020940F39A}"/>
              </a:ext>
            </a:extLst>
          </p:cNvPr>
          <p:cNvSpPr txBox="1"/>
          <p:nvPr/>
        </p:nvSpPr>
        <p:spPr>
          <a:xfrm>
            <a:off x="331304" y="1207909"/>
            <a:ext cx="671296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1. Pretrained Backbone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EfficientNetB0</a:t>
            </a:r>
            <a:r>
              <a:rPr lang="en-US" sz="1600" dirty="0"/>
              <a:t> (input 224×224×3, </a:t>
            </a:r>
            <a:r>
              <a:rPr lang="en-US" sz="1600" dirty="0" err="1"/>
              <a:t>include_top</a:t>
            </a:r>
            <a:r>
              <a:rPr lang="en-US" sz="1600" dirty="0"/>
              <a:t>=False, ImageNet weights)</a:t>
            </a:r>
          </a:p>
          <a:p>
            <a:r>
              <a:rPr lang="en-US" sz="1600" b="1" dirty="0"/>
              <a:t>2. Custom Classification Head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GlobalAveragePooling2D → spatial H×W → 1D feature vector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BatchNormalization</a:t>
            </a:r>
            <a:r>
              <a:rPr lang="en-US" sz="1600" dirty="0"/>
              <a:t> → stabilize &amp; accelerate 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Dropout(0.5) → regularization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Dense(1024, </a:t>
            </a:r>
            <a:r>
              <a:rPr lang="en-US" sz="1600" dirty="0" err="1"/>
              <a:t>ReLU</a:t>
            </a:r>
            <a:r>
              <a:rPr lang="en-US" sz="1600" dirty="0"/>
              <a:t>, L2=2e-4) → learn deeper task-specific features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BatchNormalization</a:t>
            </a:r>
            <a:r>
              <a:rPr lang="en-US" sz="1600" dirty="0"/>
              <a:t> + Dropout(0.5)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Dense(NUM_CLASSES, </a:t>
            </a:r>
            <a:r>
              <a:rPr lang="en-US" sz="1600" dirty="0" err="1"/>
              <a:t>softmax</a:t>
            </a:r>
            <a:r>
              <a:rPr lang="en-US" sz="1600" dirty="0"/>
              <a:t>) → final 100-way prediction</a:t>
            </a:r>
          </a:p>
          <a:p>
            <a:r>
              <a:rPr lang="en-US" sz="1600" b="1" dirty="0"/>
              <a:t>3. Training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Data Augmentation: random flip, rotate, zoom (on resized 224×224 CIFAR-100)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Two-Phase LR Schedule: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Head: 1e-3 for 50 epochs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Fine-tune: 1e-5 for 50 epochs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Callbacks: EarlyStopping (patience 10) + </a:t>
            </a:r>
            <a:r>
              <a:rPr lang="en-US" sz="1600" dirty="0" err="1"/>
              <a:t>ReduceLROnPlateau</a:t>
            </a:r>
            <a:r>
              <a:rPr lang="en-US" sz="1600" dirty="0"/>
              <a:t> (patience 5)</a:t>
            </a:r>
          </a:p>
        </p:txBody>
      </p:sp>
    </p:spTree>
    <p:extLst>
      <p:ext uri="{BB962C8B-B14F-4D97-AF65-F5344CB8AC3E}">
        <p14:creationId xmlns:p14="http://schemas.microsoft.com/office/powerpoint/2010/main" val="312532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1566C-A7B7-5E1C-0466-C4D842E65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8BDF-A166-8842-B14C-D91EEFCD4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85458"/>
            <a:ext cx="10364451" cy="1596177"/>
          </a:xfrm>
        </p:spPr>
        <p:txBody>
          <a:bodyPr>
            <a:normAutofit/>
          </a:bodyPr>
          <a:lstStyle/>
          <a:p>
            <a:r>
              <a:rPr lang="en-US" dirty="0"/>
              <a:t>RESULTS – EFFICIENT NET B0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327A8-55C4-92FC-39DF-FCC70806B404}"/>
              </a:ext>
            </a:extLst>
          </p:cNvPr>
          <p:cNvSpPr txBox="1"/>
          <p:nvPr/>
        </p:nvSpPr>
        <p:spPr>
          <a:xfrm>
            <a:off x="636104" y="5923722"/>
            <a:ext cx="106421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got an accuracy of 81%. Also based on the above graph we can see that the model might be slightly under-fitting at the beginning. We can consider reducing the strength of our regularizes. 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6CB294-8D67-254D-3C5F-94C86D802C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377" y="1753038"/>
            <a:ext cx="4911777" cy="38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EB7A5C3-17F4-2A1A-DA89-1E6FE77EED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5934" y="1753038"/>
            <a:ext cx="4911777" cy="387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7203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EF701-EAA5-A8C1-9E27-775DFFB8D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Result Comparison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C67644-2F51-6486-4509-6423BA5083F7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533058323"/>
              </p:ext>
            </p:extLst>
          </p:nvPr>
        </p:nvGraphicFramePr>
        <p:xfrm>
          <a:off x="685800" y="2433508"/>
          <a:ext cx="10394949" cy="18154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64983">
                  <a:extLst>
                    <a:ext uri="{9D8B030D-6E8A-4147-A177-3AD203B41FA5}">
                      <a16:colId xmlns:a16="http://schemas.microsoft.com/office/drawing/2014/main" val="1648713282"/>
                    </a:ext>
                  </a:extLst>
                </a:gridCol>
                <a:gridCol w="3464983">
                  <a:extLst>
                    <a:ext uri="{9D8B030D-6E8A-4147-A177-3AD203B41FA5}">
                      <a16:colId xmlns:a16="http://schemas.microsoft.com/office/drawing/2014/main" val="342092038"/>
                    </a:ext>
                  </a:extLst>
                </a:gridCol>
                <a:gridCol w="3464983">
                  <a:extLst>
                    <a:ext uri="{9D8B030D-6E8A-4147-A177-3AD203B41FA5}">
                      <a16:colId xmlns:a16="http://schemas.microsoft.com/office/drawing/2014/main" val="37471186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Model           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Test Accuracy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Observations                        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4984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 dirty="0">
                          <a:effectLst/>
                        </a:rPr>
                        <a:t>Custom CNN      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61.28%        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>
                          <a:effectLst/>
                        </a:rPr>
                        <a:t>Reasonable performance but prone to overfitting, as validation accuracy plateaus.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76175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b="1" kern="100">
                          <a:effectLst/>
                        </a:rPr>
                        <a:t>EfficientNetB0   </a:t>
                      </a:r>
                      <a:endParaRPr lang="en-US" sz="14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81%      </a:t>
                      </a:r>
                    </a:p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  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100" dirty="0">
                          <a:effectLst/>
                        </a:rPr>
                        <a:t>Significant improvement, better generalization, slight underfitting observed at the beginning. </a:t>
                      </a:r>
                      <a:endParaRPr lang="en-US" sz="14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937631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222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50847-C04F-041F-13F2-0A2193D4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9E95C-3F95-966D-7DFA-519B158A6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385458"/>
            <a:ext cx="10364451" cy="159617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3340D-4B9B-39FA-F943-2645156A3F64}"/>
              </a:ext>
            </a:extLst>
          </p:cNvPr>
          <p:cNvSpPr txBox="1"/>
          <p:nvPr/>
        </p:nvSpPr>
        <p:spPr>
          <a:xfrm>
            <a:off x="913774" y="1796969"/>
            <a:ext cx="10840278" cy="480907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dirty="0"/>
              <a:t>Project Goal Achieved</a:t>
            </a:r>
            <a:r>
              <a:rPr lang="en-US" sz="2000" dirty="0"/>
              <a:t>: Built a custom CNN to classify CIFAR-100 images into 100 classes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Baseline Performance</a:t>
            </a:r>
            <a:r>
              <a:rPr lang="en-US" sz="2000" dirty="0"/>
              <a:t>: Original 4-block CNN reached </a:t>
            </a:r>
            <a:r>
              <a:rPr lang="en-US" sz="2000" b="1" dirty="0"/>
              <a:t>61%</a:t>
            </a:r>
            <a:r>
              <a:rPr lang="en-US" sz="2000" dirty="0"/>
              <a:t> test accuracy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Extended Beyond Proposal</a:t>
            </a:r>
            <a:r>
              <a:rPr lang="en-US" sz="2000" dirty="0"/>
              <a:t>: Incorporated </a:t>
            </a:r>
            <a:r>
              <a:rPr lang="en-US" sz="2000" b="1" dirty="0"/>
              <a:t>EfficientNetB0</a:t>
            </a:r>
            <a:r>
              <a:rPr lang="en-US" sz="2000" dirty="0"/>
              <a:t> backbone via transfer learning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Accuracy Gain</a:t>
            </a:r>
            <a:r>
              <a:rPr lang="en-US" sz="2000" dirty="0"/>
              <a:t>: EfficientNetB0 fine-tuned → 81% vs. custom CNN → 61% (+20 pts)</a:t>
            </a:r>
          </a:p>
          <a:p>
            <a:pPr>
              <a:lnSpc>
                <a:spcPct val="200000"/>
              </a:lnSpc>
            </a:pPr>
            <a:r>
              <a:rPr lang="en-US" sz="2000" b="1" dirty="0"/>
              <a:t>Key Insight</a:t>
            </a:r>
            <a:r>
              <a:rPr lang="en-US" sz="2000" dirty="0"/>
              <a:t>: Pretrained, compound-scaled architectures dramatically improve multi-class image classification performance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  <a:p>
            <a:pPr marL="342900" indent="-342900">
              <a:lnSpc>
                <a:spcPct val="200000"/>
              </a:lnSpc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011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1968</TotalTime>
  <Words>773</Words>
  <Application>Microsoft Macintosh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Rockwell</vt:lpstr>
      <vt:lpstr>Rockwell Condensed</vt:lpstr>
      <vt:lpstr>Rockwell Extra Bold</vt:lpstr>
      <vt:lpstr>Wingdings</vt:lpstr>
      <vt:lpstr>Wood Type</vt:lpstr>
      <vt:lpstr>CIFAR - 100</vt:lpstr>
      <vt:lpstr>CIFAR-100 Dataset Overview</vt:lpstr>
      <vt:lpstr>Label Types in CIFAR-100</vt:lpstr>
      <vt:lpstr>Loading the Data</vt:lpstr>
      <vt:lpstr>Normalization</vt:lpstr>
      <vt:lpstr>Data Augmentation</vt:lpstr>
      <vt:lpstr>Model Structure  Breakdown</vt:lpstr>
      <vt:lpstr>RESULTS - CNN</vt:lpstr>
      <vt:lpstr>Efficient Net B0</vt:lpstr>
      <vt:lpstr>Model Structure Breakdown</vt:lpstr>
      <vt:lpstr>RESULTS – EFFICIENT NET B0</vt:lpstr>
      <vt:lpstr>Result 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Prajun Trital</dc:creator>
  <cp:lastModifiedBy>Prajun Trital</cp:lastModifiedBy>
  <cp:revision>22</cp:revision>
  <dcterms:created xsi:type="dcterms:W3CDTF">2025-04-26T04:00:44Z</dcterms:created>
  <dcterms:modified xsi:type="dcterms:W3CDTF">2025-05-01T22:30:59Z</dcterms:modified>
</cp:coreProperties>
</file>